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vneet J" userId="273b0d6bcb0901ac" providerId="LiveId" clId="{129DEA9C-E144-4D3F-8A34-9847850FD722}"/>
    <pc:docChg chg="custSel modSld">
      <pc:chgData name="Avneet J" userId="273b0d6bcb0901ac" providerId="LiveId" clId="{129DEA9C-E144-4D3F-8A34-9847850FD722}" dt="2026-09-21T16:53:42.713" v="46" actId="6549"/>
      <pc:docMkLst>
        <pc:docMk/>
      </pc:docMkLst>
      <pc:sldChg chg="modSp mod">
        <pc:chgData name="Avneet J" userId="273b0d6bcb0901ac" providerId="LiveId" clId="{129DEA9C-E144-4D3F-8A34-9847850FD722}" dt="2026-09-21T15:58:10.450" v="43" actId="20577"/>
        <pc:sldMkLst>
          <pc:docMk/>
          <pc:sldMk cId="0" sldId="256"/>
        </pc:sldMkLst>
        <pc:spChg chg="mod">
          <ac:chgData name="Avneet J" userId="273b0d6bcb0901ac" providerId="LiveId" clId="{129DEA9C-E144-4D3F-8A34-9847850FD722}" dt="2026-09-21T15:58:10.450" v="43" actId="20577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Avneet J" userId="273b0d6bcb0901ac" providerId="LiveId" clId="{129DEA9C-E144-4D3F-8A34-9847850FD722}" dt="2026-09-21T15:58:22.391" v="44" actId="6549"/>
        <pc:sldMkLst>
          <pc:docMk/>
          <pc:sldMk cId="0" sldId="257"/>
        </pc:sldMkLst>
        <pc:spChg chg="mod">
          <ac:chgData name="Avneet J" userId="273b0d6bcb0901ac" providerId="LiveId" clId="{129DEA9C-E144-4D3F-8A34-9847850FD722}" dt="2026-09-21T15:58:22.391" v="44" actId="6549"/>
          <ac:spMkLst>
            <pc:docMk/>
            <pc:sldMk cId="0" sldId="257"/>
            <ac:spMk id="17" creationId="{00000000-0000-0000-0000-000000000000}"/>
          </ac:spMkLst>
        </pc:spChg>
      </pc:sldChg>
      <pc:sldChg chg="modSp mod">
        <pc:chgData name="Avneet J" userId="273b0d6bcb0901ac" providerId="LiveId" clId="{129DEA9C-E144-4D3F-8A34-9847850FD722}" dt="2026-09-21T16:53:42.713" v="46" actId="6549"/>
        <pc:sldMkLst>
          <pc:docMk/>
          <pc:sldMk cId="0" sldId="259"/>
        </pc:sldMkLst>
        <pc:spChg chg="mod">
          <ac:chgData name="Avneet J" userId="273b0d6bcb0901ac" providerId="LiveId" clId="{129DEA9C-E144-4D3F-8A34-9847850FD722}" dt="2026-09-21T16:53:42.713" v="46" actId="6549"/>
          <ac:spMkLst>
            <pc:docMk/>
            <pc:sldMk cId="0" sldId="259"/>
            <ac:spMk id="33" creationId="{00000000-0000-0000-0000-000000000000}"/>
          </ac:spMkLst>
        </pc:spChg>
      </pc:sldChg>
      <pc:sldChg chg="addSp delSp modSp mod">
        <pc:chgData name="Avneet J" userId="273b0d6bcb0901ac" providerId="LiveId" clId="{129DEA9C-E144-4D3F-8A34-9847850FD722}" dt="2026-09-21T15:58:02.644" v="32" actId="1076"/>
        <pc:sldMkLst>
          <pc:docMk/>
          <pc:sldMk cId="0" sldId="261"/>
        </pc:sldMkLst>
        <pc:spChg chg="mod">
          <ac:chgData name="Avneet J" userId="273b0d6bcb0901ac" providerId="LiveId" clId="{129DEA9C-E144-4D3F-8A34-9847850FD722}" dt="2026-09-21T15:57:16.174" v="20" actId="14100"/>
          <ac:spMkLst>
            <pc:docMk/>
            <pc:sldMk cId="0" sldId="261"/>
            <ac:spMk id="4" creationId="{00000000-0000-0000-0000-000000000000}"/>
          </ac:spMkLst>
        </pc:spChg>
        <pc:spChg chg="mod">
          <ac:chgData name="Avneet J" userId="273b0d6bcb0901ac" providerId="LiveId" clId="{129DEA9C-E144-4D3F-8A34-9847850FD722}" dt="2026-09-21T15:57:27.353" v="24" actId="14100"/>
          <ac:spMkLst>
            <pc:docMk/>
            <pc:sldMk cId="0" sldId="261"/>
            <ac:spMk id="9" creationId="{00000000-0000-0000-0000-000000000000}"/>
          </ac:spMkLst>
        </pc:spChg>
        <pc:spChg chg="mod">
          <ac:chgData name="Avneet J" userId="273b0d6bcb0901ac" providerId="LiveId" clId="{129DEA9C-E144-4D3F-8A34-9847850FD722}" dt="2026-09-21T15:57:49.453" v="28" actId="14100"/>
          <ac:spMkLst>
            <pc:docMk/>
            <pc:sldMk cId="0" sldId="261"/>
            <ac:spMk id="14" creationId="{00000000-0000-0000-0000-000000000000}"/>
          </ac:spMkLst>
        </pc:spChg>
        <pc:spChg chg="mod">
          <ac:chgData name="Avneet J" userId="273b0d6bcb0901ac" providerId="LiveId" clId="{129DEA9C-E144-4D3F-8A34-9847850FD722}" dt="2026-09-21T15:57:54.122" v="29" actId="14100"/>
          <ac:spMkLst>
            <pc:docMk/>
            <pc:sldMk cId="0" sldId="261"/>
            <ac:spMk id="19" creationId="{00000000-0000-0000-0000-000000000000}"/>
          </ac:spMkLst>
        </pc:spChg>
        <pc:spChg chg="del">
          <ac:chgData name="Avneet J" userId="273b0d6bcb0901ac" providerId="LiveId" clId="{129DEA9C-E144-4D3F-8A34-9847850FD722}" dt="2026-09-21T15:55:12.108" v="0" actId="478"/>
          <ac:spMkLst>
            <pc:docMk/>
            <pc:sldMk cId="0" sldId="261"/>
            <ac:spMk id="24" creationId="{00000000-0000-0000-0000-000000000000}"/>
          </ac:spMkLst>
        </pc:spChg>
        <pc:picChg chg="add mod">
          <ac:chgData name="Avneet J" userId="273b0d6bcb0901ac" providerId="LiveId" clId="{129DEA9C-E144-4D3F-8A34-9847850FD722}" dt="2026-09-21T15:58:02.644" v="32" actId="1076"/>
          <ac:picMkLst>
            <pc:docMk/>
            <pc:sldMk cId="0" sldId="261"/>
            <ac:picMk id="27" creationId="{9ADA8213-4954-60B5-0645-AD6DFF40A9E9}"/>
          </ac:picMkLst>
        </pc:picChg>
        <pc:picChg chg="add mod">
          <ac:chgData name="Avneet J" userId="273b0d6bcb0901ac" providerId="LiveId" clId="{129DEA9C-E144-4D3F-8A34-9847850FD722}" dt="2026-09-21T15:57:59.807" v="31" actId="1076"/>
          <ac:picMkLst>
            <pc:docMk/>
            <pc:sldMk cId="0" sldId="261"/>
            <ac:picMk id="29" creationId="{097C461C-AAB7-5308-F7D3-D11D918F1273}"/>
          </ac:picMkLst>
        </pc:picChg>
        <pc:picChg chg="add mod">
          <ac:chgData name="Avneet J" userId="273b0d6bcb0901ac" providerId="LiveId" clId="{129DEA9C-E144-4D3F-8A34-9847850FD722}" dt="2026-09-21T15:57:23.279" v="23" actId="1076"/>
          <ac:picMkLst>
            <pc:docMk/>
            <pc:sldMk cId="0" sldId="261"/>
            <ac:picMk id="31" creationId="{80F2A989-96FB-34D7-F098-FAD70312E0A9}"/>
          </ac:picMkLst>
        </pc:picChg>
        <pc:picChg chg="add mod">
          <ac:chgData name="Avneet J" userId="273b0d6bcb0901ac" providerId="LiveId" clId="{129DEA9C-E144-4D3F-8A34-9847850FD722}" dt="2026-09-21T15:57:33.085" v="26" actId="1076"/>
          <ac:picMkLst>
            <pc:docMk/>
            <pc:sldMk cId="0" sldId="261"/>
            <ac:picMk id="33" creationId="{FF7F0240-2A91-1945-A467-5F49EA425C06}"/>
          </ac:picMkLst>
        </pc:picChg>
      </pc:sldChg>
      <pc:sldChg chg="modSp mod">
        <pc:chgData name="Avneet J" userId="273b0d6bcb0901ac" providerId="LiveId" clId="{129DEA9C-E144-4D3F-8A34-9847850FD722}" dt="2026-09-21T15:58:39.025" v="45" actId="6549"/>
        <pc:sldMkLst>
          <pc:docMk/>
          <pc:sldMk cId="0" sldId="264"/>
        </pc:sldMkLst>
        <pc:spChg chg="mod">
          <ac:chgData name="Avneet J" userId="273b0d6bcb0901ac" providerId="LiveId" clId="{129DEA9C-E144-4D3F-8A34-9847850FD722}" dt="2026-09-21T15:58:39.025" v="45" actId="6549"/>
          <ac:spMkLst>
            <pc:docMk/>
            <pc:sldMk cId="0" sldId="264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2611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4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4D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F6B4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206240"/>
            <a:ext cx="5486400" cy="5486400"/>
          </a:xfrm>
          <a:prstGeom prst="ellipse">
            <a:avLst/>
          </a:prstGeom>
          <a:solidFill>
            <a:srgbClr val="3FA46A">
              <a:alpha val="3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822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VIRTUAL INTERNSHIP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EcoMitra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Copilot for Campus Sustainability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0233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E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Prediction, retrieval-augmented guidance, and agentic reporting — built to turn everyday campus resource use into measurable, sustained behavior change.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5257800"/>
            <a:ext cx="2926080" cy="0"/>
          </a:xfrm>
          <a:prstGeom prst="line">
            <a:avLst/>
          </a:prstGeom>
          <a:noFill/>
          <a:ln w="19050">
            <a:solidFill>
              <a:srgbClr val="9BC5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5394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Avneet Jutla  |  B.Tech CSE, Lovely Professional University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715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collaboration with IBM SkillsBuild &amp; AICTE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use on campus is invisible — so no one improves 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900" i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we use AI to </a:t>
            </a:r>
            <a:r>
              <a:rPr lang="en-US" sz="1900" b="1" i="1" dirty="0">
                <a:solidFill>
                  <a:srgbClr val="0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and interpret everyday resource usage on campus</a:t>
            </a:r>
            <a:r>
              <a:rPr lang="en-US" sz="1900" i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that </a:t>
            </a:r>
            <a:r>
              <a:rPr lang="en-US" sz="1900" b="1" i="1" dirty="0">
                <a:solidFill>
                  <a:srgbClr val="0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hostels can make measurably more sustainable choices</a:t>
            </a:r>
            <a:r>
              <a:rPr lang="en-US" sz="1900" i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0F6B47"/>
          </a:solidFill>
          <a:ln w="12700">
            <a:solidFill>
              <a:srgbClr val="0F6B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971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FE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49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Consumption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Production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278892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F1F7F3"/>
          </a:solidFill>
          <a:ln w="12700">
            <a:solidFill>
              <a:srgbClr val="D8E8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0560" y="2971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13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3749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Action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55280" y="278892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F1F7F3"/>
          </a:solidFill>
          <a:ln w="12700">
            <a:solidFill>
              <a:srgbClr val="D8E8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2971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7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183880" y="3749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&amp; Clean Energy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846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questions a strong AI + sustainability project must answer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691640"/>
          </a:xfrm>
          <a:prstGeom prst="roundRect">
            <a:avLst>
              <a:gd name="adj" fmla="val 3784"/>
            </a:avLst>
          </a:prstGeom>
          <a:solidFill>
            <a:srgbClr val="F1F7F3"/>
          </a:solidFill>
          <a:ln w="12700">
            <a:solidFill>
              <a:srgbClr val="D8E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457200" cy="457200"/>
          </a:xfrm>
          <a:prstGeom prst="ellipse">
            <a:avLst/>
          </a:prstGeom>
          <a:solidFill>
            <a:srgbClr val="0F6B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556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hostel blocks have zero visibility into their own electricity, water, and waste footprint — no feedback loop exists to improve 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94960" cy="1691640"/>
          </a:xfrm>
          <a:prstGeom prst="roundRect">
            <a:avLst>
              <a:gd name="adj" fmla="val 3784"/>
            </a:avLst>
          </a:prstGeom>
          <a:solidFill>
            <a:srgbClr val="F1F7F3"/>
          </a:solidFill>
          <a:ln w="12700">
            <a:solidFill>
              <a:srgbClr val="D8E8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810512"/>
            <a:ext cx="457200" cy="457200"/>
          </a:xfrm>
          <a:prstGeom prst="ellipse">
            <a:avLst/>
          </a:prstGeom>
          <a:solidFill>
            <a:srgbClr val="0F6B4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7556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3317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residents, the campus facilities/eco-club team, and eventually the wider institution once usage becomes comparable across blocks.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5394960" cy="1691640"/>
          </a:xfrm>
          <a:prstGeom prst="roundRect">
            <a:avLst>
              <a:gd name="adj" fmla="val 3784"/>
            </a:avLst>
          </a:prstGeom>
          <a:solidFill>
            <a:srgbClr val="F1F7F3"/>
          </a:solidFill>
          <a:ln w="12700">
            <a:solidFill>
              <a:srgbClr val="D8E8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776472"/>
            <a:ext cx="457200" cy="457200"/>
          </a:xfrm>
          <a:prstGeom prst="ellipse">
            <a:avLst/>
          </a:prstGeom>
          <a:solidFill>
            <a:srgbClr val="0F6B4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7216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AI needed?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2976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meter numbers mean nothing on their own. AI is needed to spot patterns, generate context-aware recommendations, and answer freeform policy questions.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520440"/>
            <a:ext cx="5394960" cy="1691640"/>
          </a:xfrm>
          <a:prstGeom prst="roundRect">
            <a:avLst>
              <a:gd name="adj" fmla="val 3784"/>
            </a:avLst>
          </a:prstGeom>
          <a:solidFill>
            <a:srgbClr val="F1F7F3"/>
          </a:solidFill>
          <a:ln w="12700">
            <a:solidFill>
              <a:srgbClr val="D8E8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776472"/>
            <a:ext cx="457200" cy="457200"/>
          </a:xfrm>
          <a:prstGeom prst="ellipse">
            <a:avLst/>
          </a:prstGeom>
          <a:solidFill>
            <a:srgbClr val="0F6B4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7216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create impact?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2976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visible, personalized feedback loop drives measurable behavior change — tracked weekly per user and in aggregate per hostel block.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AI patterns working as one system, not four separate demos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29968" cy="2148840"/>
          </a:xfrm>
          <a:prstGeom prst="roundRect">
            <a:avLst>
              <a:gd name="adj" fmla="val 2703"/>
            </a:avLst>
          </a:prstGeom>
          <a:solidFill>
            <a:srgbClr val="F1F7F3"/>
          </a:solidFill>
          <a:ln w="12700">
            <a:solidFill>
              <a:srgbClr val="D8E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35024" y="18928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6B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35024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6888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Logging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97180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log daily/weekly electricity, water, waste &amp; travel data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578608" y="25374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07208" y="1691640"/>
            <a:ext cx="2029968" cy="2148840"/>
          </a:xfrm>
          <a:prstGeom prst="roundRect">
            <a:avLst>
              <a:gd name="adj" fmla="val 2703"/>
            </a:avLst>
          </a:prstGeom>
          <a:solidFill>
            <a:srgbClr val="F1F7F3"/>
          </a:solidFill>
          <a:ln w="12700">
            <a:solidFill>
              <a:srgbClr val="D8E8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93592" y="18928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FA46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93592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944368" y="246888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(RAG)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297180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&amp; campus policy docs embedded via Gemini, stored in MongoDB Atlas Vector Search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5374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65776" y="1691640"/>
            <a:ext cx="2029968" cy="2148840"/>
          </a:xfrm>
          <a:prstGeom prst="roundRect">
            <a:avLst>
              <a:gd name="adj" fmla="val 2703"/>
            </a:avLst>
          </a:prstGeom>
          <a:solidFill>
            <a:srgbClr val="F1F7F3"/>
          </a:solidFill>
          <a:ln w="12700">
            <a:solidFill>
              <a:srgbClr val="D8E8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18928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6B4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5216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202936" y="246888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Layer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230368" y="297180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reads, personalized recommendations, RAG-grounded chat answers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095744" y="25374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24344" y="1691640"/>
            <a:ext cx="2029968" cy="2148840"/>
          </a:xfrm>
          <a:prstGeom prst="roundRect">
            <a:avLst>
              <a:gd name="adj" fmla="val 2703"/>
            </a:avLst>
          </a:prstGeom>
          <a:solidFill>
            <a:srgbClr val="F1F7F3"/>
          </a:solidFill>
          <a:ln w="12700">
            <a:solidFill>
              <a:srgbClr val="D8E8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10728" y="18928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FA46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11072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461504" y="246888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Agent Job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488936" y="297180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Cron aggregates data &amp; auto-generates a campus sustainability digest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9354312" y="25374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582912" y="1691640"/>
            <a:ext cx="2029968" cy="2148840"/>
          </a:xfrm>
          <a:prstGeom prst="roundRect">
            <a:avLst>
              <a:gd name="adj" fmla="val 2703"/>
            </a:avLst>
          </a:prstGeom>
          <a:solidFill>
            <a:srgbClr val="F1F7F3"/>
          </a:solidFill>
          <a:ln w="12700">
            <a:solidFill>
              <a:srgbClr val="D8E8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69296" y="18928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6B4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369296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720072" y="246888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9747504" y="297180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UI: usage charts, weekly tip, chat assistant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160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11064240" cy="17830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Technique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it's genuinely AI-necessary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trend 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time-series pattern 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Surfaces trends a raw log table hides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Personalized tips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Gemini, prompted with the user's own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tip lists can't do this — context is the 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chatbot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over SDG + campus sustainability documents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 are grounded and citable, not hallucinated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digest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scheduled job (Vercel Cron + Gemini)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the guideline explicitly calls 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Text 32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through the five-stage design-thinking journey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29968" cy="3200400"/>
          </a:xfrm>
          <a:prstGeom prst="roundRect">
            <a:avLst>
              <a:gd name="adj" fmla="val 2703"/>
            </a:avLst>
          </a:prstGeom>
          <a:solidFill>
            <a:srgbClr val="0F6B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210312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Empathize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834640"/>
            <a:ext cx="17007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1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residents interviewed informally on what stops them from tracking usage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532888" y="31546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07208" y="1828800"/>
            <a:ext cx="2029968" cy="3200400"/>
          </a:xfrm>
          <a:prstGeom prst="roundRect">
            <a:avLst>
              <a:gd name="adj" fmla="val 2703"/>
            </a:avLst>
          </a:prstGeom>
          <a:solidFill>
            <a:srgbClr val="3FA46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16936" y="210312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2834640"/>
            <a:ext cx="17007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1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statement, target users &amp; current gaps in visibility written explicitly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791456" y="31546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065776" y="1828800"/>
            <a:ext cx="2029968" cy="3200400"/>
          </a:xfrm>
          <a:prstGeom prst="roundRect">
            <a:avLst>
              <a:gd name="adj" fmla="val 2703"/>
            </a:avLst>
          </a:prstGeom>
          <a:solidFill>
            <a:srgbClr val="0F6B4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75504" y="210312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230368" y="2834640"/>
            <a:ext cx="17007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1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Brainstormed automation, prediction &amp; decision-support options; kept feasibility in mind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050024" y="31546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324344" y="1828800"/>
            <a:ext cx="2029968" cy="3200400"/>
          </a:xfrm>
          <a:prstGeom prst="roundRect">
            <a:avLst>
              <a:gd name="adj" fmla="val 2703"/>
            </a:avLst>
          </a:prstGeom>
          <a:solidFill>
            <a:srgbClr val="3FA46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34072" y="210312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488936" y="2834640"/>
            <a:ext cx="17007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1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Flowchart, RAG pipeline &amp; sample chat inputs/outputs built end-to-end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308592" y="31546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582912" y="1828800"/>
            <a:ext cx="2029968" cy="3200400"/>
          </a:xfrm>
          <a:prstGeom prst="roundRect">
            <a:avLst>
              <a:gd name="adj" fmla="val 2703"/>
            </a:avLst>
          </a:prstGeom>
          <a:solidFill>
            <a:srgbClr val="0F6B4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92640" y="210312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Refine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747504" y="2834640"/>
            <a:ext cx="17007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1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feedback loop to sharpen clarity, ethics &amp; usefulness before submission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working demo shows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82600" y="1371600"/>
            <a:ext cx="5461000" cy="2103120"/>
          </a:xfrm>
          <a:prstGeom prst="roundRect">
            <a:avLst>
              <a:gd name="adj" fmla="val 3333"/>
            </a:avLst>
          </a:prstGeom>
          <a:solidFill>
            <a:srgbClr val="F1F7F3"/>
          </a:solidFill>
          <a:ln w="15875">
            <a:solidFill>
              <a:srgbClr val="D8E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F6B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7393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774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usage charts per category (electricity, water, waste, travel) vs. the resident's own history and hostel-block average.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28536" y="1371600"/>
            <a:ext cx="5584344" cy="2103120"/>
          </a:xfrm>
          <a:prstGeom prst="roundRect">
            <a:avLst>
              <a:gd name="adj" fmla="val 3333"/>
            </a:avLst>
          </a:prstGeom>
          <a:solidFill>
            <a:srgbClr val="F1F7F3"/>
          </a:solidFill>
          <a:ln w="15875">
            <a:solidFill>
              <a:srgbClr val="D8E8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810512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F6B4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77393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Copilot Chat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3774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'How do I cut hostel water use?' — answer is retrieved from actual SDG/campus policy documents, with the source cited.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2600" y="3547872"/>
            <a:ext cx="5461000" cy="2121408"/>
          </a:xfrm>
          <a:prstGeom prst="roundRect">
            <a:avLst>
              <a:gd name="adj" fmla="val 3333"/>
            </a:avLst>
          </a:prstGeom>
          <a:solidFill>
            <a:srgbClr val="F1F7F3"/>
          </a:solidFill>
          <a:ln w="15875">
            <a:solidFill>
              <a:srgbClr val="D8E8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005072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F6B4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005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9684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Tip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5720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personalized, non-judgmental recommendation generated from the resident's own last two weeks of data.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28536" y="3566160"/>
            <a:ext cx="5584344" cy="2103120"/>
          </a:xfrm>
          <a:prstGeom prst="roundRect">
            <a:avLst>
              <a:gd name="adj" fmla="val 3333"/>
            </a:avLst>
          </a:prstGeom>
          <a:solidFill>
            <a:srgbClr val="F1F7F3"/>
          </a:solidFill>
          <a:ln w="15875">
            <a:solidFill>
              <a:srgbClr val="D8E8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005072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F6B4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005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9684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Digest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5720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weekly summary flagging anomalies, e.g. 'Block C water use rose 18% this week.'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ADA8213-4954-60B5-0645-AD6DFF40A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4576" y="3808645"/>
            <a:ext cx="3031864" cy="58832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97C461C-AAB7-5308-F7D3-D11D918F12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4815" y="3739896"/>
            <a:ext cx="2908065" cy="80797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0F2A989-96FB-34D7-F098-FAD70312E0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8492" y="1394890"/>
            <a:ext cx="2148872" cy="117871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F7F0240-2A91-1945-A467-5F49EA425C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2020" y="1508760"/>
            <a:ext cx="2090840" cy="9324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CONSIDERATIONS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— and treated as a design constraint, not an afterthought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200400"/>
          </a:xfrm>
          <a:prstGeom prst="roundRect">
            <a:avLst>
              <a:gd name="adj" fmla="val 2456"/>
            </a:avLst>
          </a:prstGeom>
          <a:solidFill>
            <a:srgbClr val="F1F7F3"/>
          </a:solidFill>
          <a:ln w="12700">
            <a:solidFill>
              <a:srgbClr val="D8E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1965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F6B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743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0040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compare a resident against their own history, never used to rank or penalize individuals against each other.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691640"/>
            <a:ext cx="2606040" cy="3200400"/>
          </a:xfrm>
          <a:prstGeom prst="roundRect">
            <a:avLst>
              <a:gd name="adj" fmla="val 2456"/>
            </a:avLst>
          </a:prstGeom>
          <a:solidFill>
            <a:srgbClr val="F1F7F3"/>
          </a:solidFill>
          <a:ln w="12700">
            <a:solidFill>
              <a:srgbClr val="D8E8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965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F6B4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66160" y="2743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20040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chatbot answer names the source document it drew from, so recommendations are never a black box.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2606040" cy="3200400"/>
          </a:xfrm>
          <a:prstGeom prst="roundRect">
            <a:avLst>
              <a:gd name="adj" fmla="val 2456"/>
            </a:avLst>
          </a:prstGeom>
          <a:solidFill>
            <a:srgbClr val="F1F7F3"/>
          </a:solidFill>
          <a:ln w="12700">
            <a:solidFill>
              <a:srgbClr val="D8E8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69480" y="1965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F6B4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2743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20040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gamification or shaming mechanics — nudges are framed as opportunities, never as judgment of the person.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52560" y="1691640"/>
            <a:ext cx="2606040" cy="3200400"/>
          </a:xfrm>
          <a:prstGeom prst="roundRect">
            <a:avLst>
              <a:gd name="adj" fmla="val 2456"/>
            </a:avLst>
          </a:prstGeom>
          <a:solidFill>
            <a:srgbClr val="F1F7F3"/>
          </a:solidFill>
          <a:ln w="12700">
            <a:solidFill>
              <a:srgbClr val="D8E8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04120" y="1965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F6B4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35440" y="2743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320040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logs are pseudonymized; no personally identifying data is stored beyond what the dashboard needs to function.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benefits, and how the change is measured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3749040"/>
          </a:xfrm>
          <a:prstGeom prst="roundRect">
            <a:avLst>
              <a:gd name="adj" fmla="val 1951"/>
            </a:avLst>
          </a:prstGeom>
          <a:solidFill>
            <a:srgbClr val="F1F7F3"/>
          </a:solidFill>
          <a:ln w="12700">
            <a:solidFill>
              <a:srgbClr val="D8E8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adopted campus-wide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386584"/>
            <a:ext cx="82296" cy="82296"/>
          </a:xfrm>
          <a:prstGeom prst="ellipse">
            <a:avLst/>
          </a:prstGeom>
          <a:solidFill>
            <a:srgbClr val="0F6B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27685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gain weekly, personalized visibility into their own footprint for the first time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3163824"/>
            <a:ext cx="82296" cy="82296"/>
          </a:xfrm>
          <a:prstGeom prst="ellipse">
            <a:avLst/>
          </a:prstGeom>
          <a:solidFill>
            <a:srgbClr val="0F6B4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30540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blocks can be compared on a common metric, motivating friendly, non-punitive improvement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3941064"/>
            <a:ext cx="82296" cy="82296"/>
          </a:xfrm>
          <a:prstGeom prst="ellipse">
            <a:avLst/>
          </a:prstGeom>
          <a:solidFill>
            <a:srgbClr val="0F6B4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83133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Facilities/eco-club teams get an aggregated weekly digest instead of raw meter 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4718304"/>
            <a:ext cx="82296" cy="82296"/>
          </a:xfrm>
          <a:prstGeom prst="ellipse">
            <a:avLst/>
          </a:prstGeom>
          <a:solidFill>
            <a:srgbClr val="0F6B4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460857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4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Behavioral-nudge literature suggests visibility-driven feedback loops of this kind typically produce measurable (not dramatic) reductions in per-capita utility use over a semester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600200"/>
            <a:ext cx="5486400" cy="3749040"/>
          </a:xfrm>
          <a:prstGeom prst="roundRect">
            <a:avLst>
              <a:gd name="adj" fmla="val 1951"/>
            </a:avLst>
          </a:prstGeom>
          <a:solidFill>
            <a:srgbClr val="0A4D3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4652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outlasts the internship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46520" y="2386584"/>
            <a:ext cx="82296" cy="82296"/>
          </a:xfrm>
          <a:prstGeom prst="ellipse">
            <a:avLst/>
          </a:prstGeom>
          <a:solidFill>
            <a:srgbClr val="9BC5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29400" y="2276856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7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 scales into a B.Tech final-year project: swap manual logging for real IoT sensors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46520" y="3163824"/>
            <a:ext cx="82296" cy="82296"/>
          </a:xfrm>
          <a:prstGeom prst="ellipse">
            <a:avLst/>
          </a:prstGeom>
          <a:solidFill>
            <a:srgbClr val="9BC5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29400" y="3054096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7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layer generalizes to any policy corpus — not locked to sustainability content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46520" y="3941064"/>
            <a:ext cx="82296" cy="82296"/>
          </a:xfrm>
          <a:prstGeom prst="ellipse">
            <a:avLst/>
          </a:prstGeom>
          <a:solidFill>
            <a:srgbClr val="9BC5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29400" y="3831336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7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weekly-digest pattern is directly reusable in placement-facing portfolio projects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4718304"/>
            <a:ext cx="82296" cy="82296"/>
          </a:xfrm>
          <a:prstGeom prst="ellipse">
            <a:avLst/>
          </a:prstGeom>
          <a:solidFill>
            <a:srgbClr val="9BC5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29400" y="4608576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7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four distinct AI patterns in one coherent product — a stronger signal to recruiters than four separate single-purpose demos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4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943600" cy="5943600"/>
          </a:xfrm>
          <a:prstGeom prst="ellipse">
            <a:avLst/>
          </a:prstGeom>
          <a:solidFill>
            <a:srgbClr val="0F6B47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B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EcoMitra — AI Copilot for Campus Sustainability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31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866</Words>
  <Application>Microsoft Office PowerPoint</Application>
  <PresentationFormat>Widescreen</PresentationFormat>
  <Paragraphs>141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Avneet J</cp:lastModifiedBy>
  <cp:revision>1</cp:revision>
  <dcterms:created xsi:type="dcterms:W3CDTF">2026-09-20T18:43:07Z</dcterms:created>
  <dcterms:modified xsi:type="dcterms:W3CDTF">2026-09-21T16:53:44Z</dcterms:modified>
</cp:coreProperties>
</file>